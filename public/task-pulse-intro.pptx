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 Task Pulse 项目介绍。Task Pulse 是一个实时 AI 任务驾驶舱，今天和大家分享一下它的设计思路、技术实现和核心功能。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在使用 AI Agent 执行任务时，最头疼的问题是看不到过程。任务在后台运行，不知道它在做什么、卡在哪里、需不需要人工介入。这种黑盒体验让我们很难信任和执行任务。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Task Pulse 的解法很简单：把任务执行的每一个环节都变成可观察的事件。从创建、排队、编码、测试到完成，每个阶段都有对应的状态、事件和日志，全部实时推送到浏览器。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技术选型上，我们用了 Next.js 16 的 App Router 做服务端渲染，React 19 + Tailwind 4 构建暗色主题 UI，SSE 做实时推送，TypeScript 保证类型安全。整套栈轻量且现代化。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这是仪表盘的运行截图。顶部统计卡片展示各状态任务数量，中间是启动面板，下方是按大任务分组的列表，支持搜索和筛选。页面每 5 秒自动刷新。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每个任务都有一个专属详情页。这里可以看到阶段时间线、实时事件流、原始日志、产物列表和通知记录。coding 任务还会自动生成功能更新摘要。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整体架构分为三层：浏览器通过 SSR 渲染页面，Next.js 服务端提供 API 和 SSE 端点，底层用 JSON 文件持久化任务快照，通过版本号变化驱动实时推送。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系统提供了 11 个 REST 端点，覆盖任务的完整生命周期。其中最核心的是 SSE 流端点，每秒轮询版本号，变化时推送完整快照到浏览器。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对于需要人工确认的操作，Task Pulse 支持 approval_required 状态。Agent 遇到权限操作时暂停，通过 SSE 通知浏览器显示批准按钮，用户一键批准后继续执行。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部署非常简单，只需要 Node.js 18+ 环境和 npm，三行命令就能启动。默认运行在 3000 端口，即开即用。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感谢大家的时间。项目完全开源，欢迎 Star 和贡献。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0be5f45d505676b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7a59965aca34dfd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DD9C5">
                  <a:alpha val="12000"/>
                </a:srgbClr>
              </a:gs>
              <a:gs pos="100000">
                <a:srgbClr val="3DD9C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C8CFF">
                  <a:alpha val="8000"/>
                </a:srgbClr>
              </a:gs>
              <a:gs pos="100000">
                <a:srgbClr val="7C8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DD9C5"/>
              </a:gs>
              <a:gs pos="100000">
                <a:srgbClr val="7C8CFF"/>
              </a:gs>
            </a:gsLst>
            <a:lin ang="0" scaled="1"/>
          </a:gra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933450" y="933450"/>
            <a:ext cx="10325100" cy="5276850"/>
            <a:chOff x="933450" y="933450"/>
            <a:chExt cx="10325100" cy="5276850"/>
          </a:xfrm>
        </p:grpSpPr>
        <p:sp>
          <p:nvSpPr>
            <p:cNvPr id="6" name="Ellipse 6"/>
            <p:cNvSpPr/>
            <p:nvPr/>
          </p:nvSpPr>
          <p:spPr>
            <a:xfrm>
              <a:off x="933450" y="9334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85950" y="9334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838450" y="9334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790950" y="9334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33450" y="16954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885950" y="16954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33450" y="24574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58450" y="5505450"/>
              <a:ext cx="38100" cy="38100"/>
            </a:xfrm>
            <a:prstGeom prst="ellipse">
              <a:avLst/>
            </a:prstGeom>
            <a:solidFill>
              <a:srgbClr val="7C8CF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220450" y="5505450"/>
              <a:ext cx="38100" cy="38100"/>
            </a:xfrm>
            <a:prstGeom prst="ellipse">
              <a:avLst/>
            </a:prstGeom>
            <a:solidFill>
              <a:srgbClr val="7C8CF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458450" y="6172200"/>
              <a:ext cx="38100" cy="38100"/>
            </a:xfrm>
            <a:prstGeom prst="ellipse">
              <a:avLst/>
            </a:prstGeom>
            <a:solidFill>
              <a:srgbClr val="7C8CFF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220450" y="6172200"/>
              <a:ext cx="38100" cy="38100"/>
            </a:xfrm>
            <a:prstGeom prst="ellipse">
              <a:avLst/>
            </a:prstGeom>
            <a:solidFill>
              <a:srgbClr val="7C8CFF"/>
            </a:solidFill>
            <a:ln>
              <a:noFill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4194810" y="2148840"/>
            <a:ext cx="3802380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E8EDF5"/>
                </a:solidFill>
                <a:latin typeface="Arial Black"/>
                <a:ea typeface="Microsoft YaHei"/>
                <a:cs typeface="Arial Black"/>
              </a:rPr>
              <a:t>Task Pulse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91000" y="2857500"/>
            <a:ext cx="3810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DD9C5"/>
              </a:gs>
              <a:gs pos="100000">
                <a:srgbClr val="7C8CFF"/>
              </a:gs>
            </a:gsLst>
            <a:lin ang="0" scaled="1"/>
          </a:gra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819507" y="3202305"/>
            <a:ext cx="255298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AI 任务实时驾驶舱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55111" y="3950018"/>
            <a:ext cx="50817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基于 Next.js 16 · React 19 · TypeScript · SSE 实时推送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619750" y="4572000"/>
            <a:ext cx="952500" cy="952500"/>
            <a:chOff x="5619750" y="4572000"/>
            <a:chExt cx="952500" cy="952500"/>
          </a:xfrm>
        </p:grpSpPr>
        <p:sp>
          <p:nvSpPr>
            <p:cNvPr id="22" name="Rectangle 22"/>
            <p:cNvSpPr/>
            <p:nvPr/>
          </p:nvSpPr>
          <p:spPr>
            <a:xfrm>
              <a:off x="5619750" y="4572000"/>
              <a:ext cx="952500" cy="952500"/>
            </a:xfrm>
            <a:prstGeom prst="roundRect">
              <a:avLst>
                <a:gd name="adj" fmla="val 16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3125" y="48558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实时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87402" y="509397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C8CFF"/>
                  </a:solidFill>
                  <a:latin typeface="Arial"/>
                  <a:ea typeface="Microsoft YaHei"/>
                  <a:cs typeface="Arial"/>
                </a:rPr>
                <a:t>可观察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87402" y="53320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自动化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177599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2025 · 实时 AI 任务监控驾驶舱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DD9C5">
                  <a:alpha val="6000"/>
                </a:srgbClr>
              </a:gs>
              <a:gs pos="100000">
                <a:srgbClr val="3DD9C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52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DD9C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2000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DF5"/>
                </a:solidFill>
                <a:latin typeface="Arial"/>
                <a:ea typeface="Microsoft YaHei"/>
                <a:cs typeface="Arial"/>
              </a:rPr>
              <a:t>痛点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417195"/>
            <a:ext cx="7786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The Problem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62000" y="1143000"/>
            <a:ext cx="4762500" cy="2667000"/>
            <a:chOff x="762000" y="1143000"/>
            <a:chExt cx="4762500" cy="2667000"/>
          </a:xfrm>
        </p:grpSpPr>
        <p:sp>
          <p:nvSpPr>
            <p:cNvPr id="8" name="Rectangle 8"/>
            <p:cNvSpPr/>
            <p:nvPr/>
          </p:nvSpPr>
          <p:spPr>
            <a:xfrm>
              <a:off x="762000" y="1143000"/>
              <a:ext cx="4762500" cy="762000"/>
            </a:xfrm>
            <a:prstGeom prst="roundRect">
              <a:avLst>
                <a:gd name="adj" fmla="val 15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95350" y="1371600"/>
              <a:ext cx="304800" cy="3048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6221" y="1442085"/>
              <a:ext cx="830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!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260" y="1346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黑盒执行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1118" y="1590199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AI 执行任务时，看不到它在干什么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095500"/>
              <a:ext cx="4762500" cy="762000"/>
            </a:xfrm>
            <a:prstGeom prst="roundRect">
              <a:avLst>
                <a:gd name="adj" fmla="val 15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95350" y="2324100"/>
              <a:ext cx="304800" cy="3048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314" y="23945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?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8260" y="22993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不知道卡在哪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1118" y="254269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任务卡住了还是正在执行中？完全不知道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048000"/>
              <a:ext cx="4762500" cy="762000"/>
            </a:xfrm>
            <a:prstGeom prst="roundRect">
              <a:avLst>
                <a:gd name="adj" fmla="val 15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95350" y="3276600"/>
              <a:ext cx="304800" cy="3048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4314" y="33470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8260" y="32518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无法实时干预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1118" y="349519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需要人工介入时，没有便捷的批准途径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58000" y="1714500"/>
            <a:ext cx="4191000" cy="2857500"/>
            <a:chOff x="6858000" y="1714500"/>
            <a:chExt cx="4191000" cy="2857500"/>
          </a:xfrm>
        </p:grpSpPr>
        <p:sp>
          <p:nvSpPr>
            <p:cNvPr id="24" name="Rectangle 24"/>
            <p:cNvSpPr/>
            <p:nvPr/>
          </p:nvSpPr>
          <p:spPr>
            <a:xfrm>
              <a:off x="6858000" y="1714500"/>
              <a:ext cx="4191000" cy="2857500"/>
            </a:xfrm>
            <a:prstGeom prst="roundRect">
              <a:avLst>
                <a:gd name="adj" fmla="val 6667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77726" y="1885950"/>
              <a:ext cx="9515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dirty="0">
                  <a:solidFill>
                    <a:srgbClr val="3DD9C5"/>
                  </a:solidFill>
                  <a:latin typeface="Arial Black"/>
                  <a:ea typeface="Microsoft YaHei"/>
                  <a:cs typeface="Arial Black"/>
                </a:rPr>
                <a:t>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0246" y="3457575"/>
              <a:ext cx="25465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盲人摸象式的 AI 任务管理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08549" y="379190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看不见过程 = 无法信任结果</a:t>
              </a:r>
            </a:p>
          </p:txBody>
        </p:sp>
      </p:grpSp>
      <p:sp>
        <p:nvSpPr>
          <p:cNvPr id="29" name="Rectangle 2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545961" y="6626066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DD9C5">
                  <a:alpha val="6000"/>
                </a:srgbClr>
              </a:gs>
              <a:gs pos="100000">
                <a:srgbClr val="3DD9C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52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DD9C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2000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DF5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417195"/>
            <a:ext cx="5354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Solution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62000" y="952500"/>
            <a:ext cx="10668000" cy="1333500"/>
            <a:chOff x="762000" y="952500"/>
            <a:chExt cx="10668000" cy="1333500"/>
          </a:xfrm>
        </p:grpSpPr>
        <p:sp>
          <p:nvSpPr>
            <p:cNvPr id="8" name="Rectangle 8"/>
            <p:cNvSpPr/>
            <p:nvPr/>
          </p:nvSpPr>
          <p:spPr>
            <a:xfrm>
              <a:off x="762000" y="952500"/>
              <a:ext cx="10668000" cy="1333500"/>
            </a:xfrm>
            <a:prstGeom prst="roundRect">
              <a:avLst>
                <a:gd name="adj" fmla="val 11429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54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2045" y="1155382"/>
              <a:ext cx="2395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什么是 Task Pulse？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12" y="1545431"/>
              <a:ext cx="40951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Calibri"/>
                  <a:ea typeface="Microsoft YaHei"/>
                  <a:cs typeface="Calibri"/>
                </a:rPr>
                <a:t>一个面向 AI Agent 和 Coding Runner 的实时任务看板。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8712" y="1831181"/>
              <a:ext cx="7093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Calibri"/>
                  <a:ea typeface="Microsoft YaHei"/>
                  <a:cs typeface="Calibri"/>
                </a:rPr>
                <a:t>把任务执行过程拆成可观察的事件流、日志流、状态时间线和产物面板，在浏览器里盯执行过程。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2571750"/>
            <a:ext cx="10572750" cy="1524000"/>
            <a:chOff x="762000" y="2571750"/>
            <a:chExt cx="10572750" cy="1524000"/>
          </a:xfrm>
        </p:grpSpPr>
        <p:sp>
          <p:nvSpPr>
            <p:cNvPr id="13" name="Rectangle 13"/>
            <p:cNvSpPr/>
            <p:nvPr/>
          </p:nvSpPr>
          <p:spPr>
            <a:xfrm>
              <a:off x="762000" y="2571750"/>
              <a:ext cx="3333750" cy="1524000"/>
            </a:xfrm>
            <a:prstGeom prst="roundRect">
              <a:avLst>
                <a:gd name="adj" fmla="val 875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2571750"/>
              <a:ext cx="3333750" cy="57150"/>
            </a:xfrm>
            <a:prstGeom prst="roundRect">
              <a:avLst>
                <a:gd name="adj" fmla="val 50000"/>
              </a:avLst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0605" y="28546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实时可观察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5368" y="3180874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SSE 实时推送任务快照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5368" y="34189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每个状态变更版本化推送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5368" y="3657124"/>
              <a:ext cx="8221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1 秒心跳保活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81500" y="2571750"/>
              <a:ext cx="3333750" cy="1524000"/>
            </a:xfrm>
            <a:prstGeom prst="roundRect">
              <a:avLst>
                <a:gd name="adj" fmla="val 875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81500" y="2571750"/>
              <a:ext cx="3333750" cy="57150"/>
            </a:xfrm>
            <a:prstGeom prst="roundRect">
              <a:avLst>
                <a:gd name="adj" fmla="val 50000"/>
              </a:avLst>
            </a:prstGeom>
            <a:solidFill>
              <a:srgbClr val="7C8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50105" y="28546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全流程覆盖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4868" y="3180874"/>
              <a:ext cx="2061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阶段时间线：排队 → 编码 → 完成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4868" y="3418999"/>
              <a:ext cx="1918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事件流 + 实时日志 + 产物面板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54868" y="36571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通知记录与快速入口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0" y="2571750"/>
              <a:ext cx="3333750" cy="1524000"/>
            </a:xfrm>
            <a:prstGeom prst="roundRect">
              <a:avLst>
                <a:gd name="adj" fmla="val 875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0" y="2571750"/>
              <a:ext cx="3333750" cy="571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69605" y="28546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人工介入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74368" y="318087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命令审批：一键批准/拒绝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74368" y="341899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支持 OpenCode / Hermes 执行器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74368" y="3657124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停止 / 重试 / 删除操作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545961" y="6626066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DD9C5">
                  <a:alpha val="6000"/>
                </a:srgbClr>
              </a:gs>
              <a:gs pos="100000">
                <a:srgbClr val="3DD9C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52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DD9C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2000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DF5"/>
                </a:solidFill>
                <a:latin typeface="Arial"/>
                <a:ea typeface="Microsoft YaHei"/>
                <a:cs typeface="Arial"/>
              </a:rPr>
              <a:t>技术栈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4171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Tech Stack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62000" y="1143000"/>
            <a:ext cx="10763250" cy="1809750"/>
            <a:chOff x="762000" y="1143000"/>
            <a:chExt cx="10763250" cy="1809750"/>
          </a:xfrm>
        </p:grpSpPr>
        <p:sp>
          <p:nvSpPr>
            <p:cNvPr id="8" name="Rectangle 8"/>
            <p:cNvSpPr/>
            <p:nvPr/>
          </p:nvSpPr>
          <p:spPr>
            <a:xfrm>
              <a:off x="762000" y="1143000"/>
              <a:ext cx="24765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27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5355" y="1330642"/>
              <a:ext cx="10176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Next.js 16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1070" y="1598295"/>
              <a:ext cx="20865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App Router · Server Components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1143000"/>
              <a:ext cx="24765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27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97605" y="1330642"/>
              <a:ext cx="8416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React 19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03320" y="1598295"/>
              <a:ext cx="1481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Server Actions · Hooks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1143000"/>
              <a:ext cx="24765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27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59855" y="1330642"/>
              <a:ext cx="1121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TypeScript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5570" y="15982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完整的类型安全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048750" y="1143000"/>
              <a:ext cx="24765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27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2105" y="1330642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Tailwind 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27820" y="15982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暗色主题 · 响应式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190750"/>
              <a:ext cx="24765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27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5355" y="2378392"/>
              <a:ext cx="8520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8CFF"/>
                  </a:solidFill>
                  <a:latin typeface="Arial"/>
                  <a:ea typeface="Microsoft YaHei"/>
                  <a:cs typeface="Arial"/>
                </a:rPr>
                <a:t>SSE 推送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2646045"/>
              <a:ext cx="12913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Server-Sent Events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524250" y="2190750"/>
              <a:ext cx="24765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27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97605" y="2378392"/>
              <a:ext cx="149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8CFF"/>
                  </a:solidFill>
                  <a:latin typeface="Arial"/>
                  <a:ea typeface="Microsoft YaHei"/>
                  <a:cs typeface="Arial"/>
                </a:rPr>
                <a:t>Framer Motion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03320" y="2646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平滑动画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2190750"/>
              <a:ext cx="24765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27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9855" y="2378392"/>
              <a:ext cx="1245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8CFF"/>
                  </a:solidFill>
                  <a:latin typeface="Arial"/>
                  <a:ea typeface="Microsoft YaHei"/>
                  <a:cs typeface="Arial"/>
                </a:rPr>
                <a:t>Lucide Icons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5570" y="26460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开源图标库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048750" y="2190750"/>
              <a:ext cx="24765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27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2105" y="2378392"/>
              <a:ext cx="9348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8CFF"/>
                  </a:solidFill>
                  <a:latin typeface="Arial"/>
                  <a:ea typeface="Microsoft YaHei"/>
                  <a:cs typeface="Arial"/>
                </a:rPr>
                <a:t>React MD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27820" y="2646045"/>
              <a:ext cx="9561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Markdown 渲染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4095750"/>
            <a:ext cx="10668000" cy="571500"/>
            <a:chOff x="762000" y="4095750"/>
            <a:chExt cx="10668000" cy="571500"/>
          </a:xfrm>
        </p:grpSpPr>
        <p:sp>
          <p:nvSpPr>
            <p:cNvPr id="33" name="Rectangle 33"/>
            <p:cNvSpPr/>
            <p:nvPr/>
          </p:nvSpPr>
          <p:spPr>
            <a:xfrm>
              <a:off x="762000" y="4095750"/>
              <a:ext cx="10668000" cy="571500"/>
            </a:xfrm>
            <a:prstGeom prst="roundRect">
              <a:avLst>
                <a:gd name="adj" fmla="val 20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4415" y="42205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部署依赖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6320" y="4455795"/>
              <a:ext cx="3381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D9C5"/>
                  </a:solidFill>
                  <a:latin typeface="Consolas"/>
                  <a:ea typeface="Microsoft YaHei"/>
                  <a:cs typeface="Consolas"/>
                </a:rPr>
                <a:t>Node.js ≥ 18 · npm install · npm run build · npm start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545961" y="6626066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DD9C5">
                  <a:alpha val="6000"/>
                </a:srgbClr>
              </a:gs>
              <a:gs pos="100000">
                <a:srgbClr val="3DD9C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52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DD9C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2000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DF5"/>
                </a:solidFill>
                <a:latin typeface="Arial"/>
                <a:ea typeface="Microsoft YaHei"/>
                <a:cs typeface="Arial"/>
              </a:rPr>
              <a:t>实时仪表盘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417195"/>
            <a:ext cx="1311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Dashboard Overview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33500" y="952500"/>
            <a:ext cx="9525000" cy="4572000"/>
            <a:chOff x="1333500" y="952500"/>
            <a:chExt cx="9525000" cy="45720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7333" r="0" b="7333"/>
            <a:stretch>
              <a:fillRect/>
            </a:stretch>
          </p:blipFill>
          <p:spPr>
            <a:xfrm>
              <a:off x="1333500" y="952500"/>
              <a:ext cx="9525000" cy="45720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1333500" y="952500"/>
              <a:ext cx="9525000" cy="4572000"/>
            </a:xfrm>
            <a:prstGeom prst="roundRect">
              <a:avLst>
                <a:gd name="adj" fmla="val 2500"/>
              </a:avLst>
            </a:prstGeom>
            <a:noFill/>
            <a:ln w="9525">
              <a:solidFill>
                <a:srgbClr val="FFFFFF">
                  <a:alpha val="10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28650" y="5704999"/>
            <a:ext cx="3105411" cy="198120"/>
            <a:chOff x="628650" y="5704999"/>
            <a:chExt cx="3105411" cy="198120"/>
          </a:xfrm>
        </p:grpSpPr>
        <p:sp>
          <p:nvSpPr>
            <p:cNvPr id="11" name="Ellipse 11"/>
            <p:cNvSpPr/>
            <p:nvPr/>
          </p:nvSpPr>
          <p:spPr>
            <a:xfrm>
              <a:off x="628650" y="5734050"/>
              <a:ext cx="76200" cy="762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7242" y="5704999"/>
              <a:ext cx="2936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统计卡片：运行中 · 已阻塞 · 待审批 · 已完成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38650" y="5704999"/>
            <a:ext cx="2343578" cy="198120"/>
            <a:chOff x="4438650" y="5704999"/>
            <a:chExt cx="2343578" cy="198120"/>
          </a:xfrm>
        </p:grpSpPr>
        <p:sp>
          <p:nvSpPr>
            <p:cNvPr id="14" name="Ellipse 14"/>
            <p:cNvSpPr/>
            <p:nvPr/>
          </p:nvSpPr>
          <p:spPr>
            <a:xfrm>
              <a:off x="4438650" y="5734050"/>
              <a:ext cx="76200" cy="762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7242" y="5704999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按大任务分组·搜索筛选·状态过滤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39150" y="5704999"/>
            <a:ext cx="1311187" cy="198120"/>
            <a:chOff x="8439150" y="5704999"/>
            <a:chExt cx="1311187" cy="198120"/>
          </a:xfrm>
        </p:grpSpPr>
        <p:sp>
          <p:nvSpPr>
            <p:cNvPr id="17" name="Ellipse 17"/>
            <p:cNvSpPr/>
            <p:nvPr/>
          </p:nvSpPr>
          <p:spPr>
            <a:xfrm>
              <a:off x="8439150" y="5734050"/>
              <a:ext cx="76200" cy="762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07742" y="57049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5 秒自动轮询刷新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545961" y="6626066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C8CFF">
                  <a:alpha val="6000"/>
                </a:srgbClr>
              </a:gs>
              <a:gs pos="100000">
                <a:srgbClr val="7C8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52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DD9C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2000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DF5"/>
                </a:solidFill>
                <a:latin typeface="Arial"/>
                <a:ea typeface="Microsoft YaHei"/>
                <a:cs typeface="Arial"/>
              </a:rPr>
              <a:t>任务详情页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417195"/>
            <a:ext cx="7195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Detail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33500" y="857250"/>
            <a:ext cx="9525000" cy="4191000"/>
            <a:chOff x="1333500" y="857250"/>
            <a:chExt cx="9525000" cy="419100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rcRect l="0" t="10889" r="0" b="10889"/>
            <a:stretch>
              <a:fillRect/>
            </a:stretch>
          </p:blipFill>
          <p:spPr>
            <a:xfrm>
              <a:off x="1333500" y="857250"/>
              <a:ext cx="9525000" cy="41910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1333500" y="857250"/>
              <a:ext cx="9525000" cy="4191000"/>
            </a:xfrm>
            <a:prstGeom prst="roundRect">
              <a:avLst>
                <a:gd name="adj" fmla="val 2727"/>
              </a:avLst>
            </a:prstGeom>
            <a:noFill/>
            <a:ln w="9525">
              <a:solidFill>
                <a:srgbClr val="FFFFFF">
                  <a:alpha val="10000"/>
                </a:srgb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5334000"/>
            <a:ext cx="5143500" cy="952500"/>
            <a:chOff x="762000" y="5334000"/>
            <a:chExt cx="5143500" cy="952500"/>
          </a:xfrm>
        </p:grpSpPr>
        <p:sp>
          <p:nvSpPr>
            <p:cNvPr id="11" name="Rectangle 11"/>
            <p:cNvSpPr/>
            <p:nvPr/>
          </p:nvSpPr>
          <p:spPr>
            <a:xfrm>
              <a:off x="762000" y="5334000"/>
              <a:ext cx="5143500" cy="952500"/>
            </a:xfrm>
            <a:prstGeom prst="roundRect">
              <a:avLst>
                <a:gd name="adj" fmla="val 12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165" y="54873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阶段时间线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1070" y="5732145"/>
              <a:ext cx="2770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排队 → 评估 → 启动 → 编码 → 测试 → 汇总 → 完成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1070" y="59607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每个阶段可视化进度条与状态标识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6500" y="5334000"/>
            <a:ext cx="5143500" cy="952500"/>
            <a:chOff x="6286500" y="5334000"/>
            <a:chExt cx="5143500" cy="952500"/>
          </a:xfrm>
        </p:grpSpPr>
        <p:sp>
          <p:nvSpPr>
            <p:cNvPr id="16" name="Rectangle 16"/>
            <p:cNvSpPr/>
            <p:nvPr/>
          </p:nvSpPr>
          <p:spPr>
            <a:xfrm>
              <a:off x="6286500" y="5334000"/>
              <a:ext cx="5143500" cy="952500"/>
            </a:xfrm>
            <a:prstGeom prst="roundRect">
              <a:avLst>
                <a:gd name="adj" fmla="val 12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63665" y="5487352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CFF"/>
                  </a:solidFill>
                  <a:latin typeface="Arial"/>
                  <a:ea typeface="Microsoft YaHei"/>
                  <a:cs typeface="Arial"/>
                </a:rPr>
                <a:t>事件流 + 日志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5570" y="573214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SSE 实时推送的语义化时间线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5570" y="5960745"/>
              <a:ext cx="22311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原始 stdout/stderr/system 日志流</a:t>
              </a:r>
            </a:p>
          </p:txBody>
        </p:sp>
      </p:grpSp>
      <p:sp>
        <p:nvSpPr>
          <p:cNvPr id="21" name="Rectangle 2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545961" y="6626066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DD9C5">
                  <a:alpha val="5000"/>
                </a:srgbClr>
              </a:gs>
              <a:gs pos="100000">
                <a:srgbClr val="3DD9C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52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DD9C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200025"/>
            <a:ext cx="18668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DF5"/>
                </a:solidFill>
                <a:latin typeface="Arial"/>
                <a:ea typeface="Microsoft YaHei"/>
                <a:cs typeface="Arial"/>
              </a:rPr>
              <a:t>SSE 实时推送架构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417195"/>
            <a:ext cx="17645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Real-time SSE Architecture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381500" y="1143000"/>
            <a:ext cx="3810000" cy="2952750"/>
            <a:chOff x="4381500" y="1143000"/>
            <a:chExt cx="3810000" cy="2952750"/>
          </a:xfrm>
        </p:grpSpPr>
        <p:sp>
          <p:nvSpPr>
            <p:cNvPr id="8" name="Rectangle 8"/>
            <p:cNvSpPr/>
            <p:nvPr/>
          </p:nvSpPr>
          <p:spPr>
            <a:xfrm>
              <a:off x="4381500" y="1143000"/>
              <a:ext cx="38100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5400000" scaled="1"/>
            </a:gradFill>
            <a:ln w="14288">
              <a:solidFill>
                <a:srgbClr val="3DD9C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17016" y="1346835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🌐 浏览器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06117" y="1617345"/>
              <a:ext cx="15607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Next.js SSR + 客户端交互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286500" y="1905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6238875" y="2171700"/>
              <a:ext cx="95250" cy="66675"/>
            </a:xfrm>
            <a:custGeom>
              <a:avLst/>
              <a:gdLst/>
              <a:ahLst/>
              <a:cxnLst/>
              <a:rect l="l" t="t" r="r" b="b"/>
              <a:pathLst>
                <a:path w="95250" h="66675">
                  <a:moveTo>
                    <a:pt x="0" y="0"/>
                  </a:moveTo>
                  <a:lnTo>
                    <a:pt x="95250" y="0"/>
                  </a:lnTo>
                  <a:lnTo>
                    <a:pt x="47625" y="66675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2238375"/>
              <a:ext cx="38100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5400000" scaled="1"/>
            </a:gradFill>
            <a:ln w="14288">
              <a:solidFill>
                <a:srgbClr val="7C8C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58171" y="2442210"/>
              <a:ext cx="14566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C8CFF"/>
                  </a:solidFill>
                  <a:latin typeface="Arial"/>
                  <a:ea typeface="Microsoft YaHei"/>
                  <a:cs typeface="Arial"/>
                </a:rPr>
                <a:t>⚡ Next.js 服务端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96712" y="271272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API 路由 · SSE 端点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286500" y="30003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238875" y="3267075"/>
              <a:ext cx="95250" cy="66675"/>
            </a:xfrm>
            <a:custGeom>
              <a:avLst/>
              <a:gdLst/>
              <a:ahLst/>
              <a:cxnLst/>
              <a:rect l="l" t="t" r="r" b="b"/>
              <a:pathLst>
                <a:path w="95250" h="66675">
                  <a:moveTo>
                    <a:pt x="0" y="0"/>
                  </a:moveTo>
                  <a:lnTo>
                    <a:pt x="95250" y="0"/>
                  </a:lnTo>
                  <a:lnTo>
                    <a:pt x="47625" y="66675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81500" y="3333750"/>
              <a:ext cx="3810000" cy="762000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5400000" scaled="1"/>
            </a:gradFill>
            <a:ln w="14288">
              <a:solidFill>
                <a:srgbClr val="10B98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07565" y="3537585"/>
              <a:ext cx="15578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📁 数据层 + Runner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3028" y="3808095"/>
              <a:ext cx="2986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.task-pulse-data/*.json · OpenCode / Hermes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4286250"/>
            <a:ext cx="10668000" cy="476250"/>
            <a:chOff x="762000" y="4286250"/>
            <a:chExt cx="10668000" cy="476250"/>
          </a:xfrm>
        </p:grpSpPr>
        <p:sp>
          <p:nvSpPr>
            <p:cNvPr id="22" name="Rectangle 22"/>
            <p:cNvSpPr/>
            <p:nvPr/>
          </p:nvSpPr>
          <p:spPr>
            <a:xfrm>
              <a:off x="762000" y="4286250"/>
              <a:ext cx="10668000" cy="476250"/>
            </a:xfrm>
            <a:prstGeom prst="roundRect">
              <a:avLst>
                <a:gd name="adj" fmla="val 20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5368" y="4447699"/>
              <a:ext cx="46954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DD9C5"/>
                  </a:solidFill>
                  <a:latin typeface="Consolas"/>
                  <a:ea typeface="Microsoft YaHei"/>
                  <a:cs typeface="Consolas"/>
                </a:rPr>
                <a:t>读写 .json 文件 → 版本号 +1 → SSE 每秒轮询版本 → 变更推送 → 浏览器更新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4953000"/>
            <a:ext cx="10668000" cy="476250"/>
            <a:chOff x="762000" y="4953000"/>
            <a:chExt cx="10668000" cy="476250"/>
          </a:xfrm>
        </p:grpSpPr>
        <p:sp>
          <p:nvSpPr>
            <p:cNvPr id="25" name="Rectangle 25"/>
            <p:cNvSpPr/>
            <p:nvPr/>
          </p:nvSpPr>
          <p:spPr>
            <a:xfrm>
              <a:off x="762000" y="4953000"/>
              <a:ext cx="10668000" cy="476250"/>
            </a:xfrm>
            <a:prstGeom prst="roundRect">
              <a:avLst>
                <a:gd name="adj" fmla="val 20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35368" y="5114449"/>
              <a:ext cx="38410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每个任务一个 JSON 快照 · 事件/日志/产物/通知全部持久化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545961" y="6626066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C8CFF">
                  <a:alpha val="6000"/>
                </a:srgbClr>
              </a:gs>
              <a:gs pos="100000">
                <a:srgbClr val="7C8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52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DD9C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200025"/>
            <a:ext cx="8892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DF5"/>
                </a:solidFill>
                <a:latin typeface="Arial"/>
                <a:ea typeface="Microsoft YaHei"/>
                <a:cs typeface="Arial"/>
              </a:rPr>
              <a:t>API 架构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417195"/>
            <a:ext cx="8641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API Endpoints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762000" y="952500"/>
            <a:ext cx="10668000" cy="5334000"/>
            <a:chOff x="762000" y="952500"/>
            <a:chExt cx="10668000" cy="5334000"/>
          </a:xfrm>
        </p:grpSpPr>
        <p:sp>
          <p:nvSpPr>
            <p:cNvPr id="8" name="Rectangle 8"/>
            <p:cNvSpPr/>
            <p:nvPr/>
          </p:nvSpPr>
          <p:spPr>
            <a:xfrm>
              <a:off x="762000" y="952500"/>
              <a:ext cx="10668000" cy="5334000"/>
            </a:xfrm>
            <a:prstGeom prst="roundRect">
              <a:avLst>
                <a:gd name="adj" fmla="val 2857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2510" y="1156335"/>
              <a:ext cx="20179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11 个 REST 端点 + SSE 流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047750" y="1619250"/>
              <a:ext cx="5753100" cy="245269"/>
              <a:chOff x="1047750" y="1619250"/>
              <a:chExt cx="5753100" cy="245269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47750" y="1619250"/>
                <a:ext cx="476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71022" y="1682591"/>
                <a:ext cx="2297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0B981"/>
                    </a:solidFill>
                    <a:latin typeface="Consolas"/>
                    <a:ea typeface="Microsoft YaHei"/>
                    <a:cs typeface="Consolas"/>
                  </a:rPr>
                  <a:t>GET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02118" y="1666399"/>
                <a:ext cx="7723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Consolas"/>
                    <a:ea typeface="Microsoft YaHei"/>
                    <a:cs typeface="Consolas"/>
                  </a:rPr>
                  <a:t>/api/tasks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989320" y="16744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Calibri"/>
                    <a:ea typeface="Microsoft YaHei"/>
                    <a:cs typeface="Calibri"/>
                  </a:rPr>
                  <a:t>获取任务列表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047750" y="2000250"/>
              <a:ext cx="5621655" cy="245269"/>
              <a:chOff x="1047750" y="2000250"/>
              <a:chExt cx="5621655" cy="245269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1047750" y="2000250"/>
                <a:ext cx="476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FBBF24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23579" y="2063591"/>
                <a:ext cx="32459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BBF24"/>
                    </a:solidFill>
                    <a:latin typeface="Consolas"/>
                    <a:ea typeface="Microsoft YaHei"/>
                    <a:cs typeface="Consolas"/>
                  </a:rPr>
                  <a:t>POST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2118" y="2047399"/>
                <a:ext cx="7723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Consolas"/>
                    <a:ea typeface="Microsoft YaHei"/>
                    <a:cs typeface="Consolas"/>
                  </a:rPr>
                  <a:t>/api/tasks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989320" y="2055495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Calibri"/>
                    <a:ea typeface="Microsoft YaHei"/>
                    <a:cs typeface="Calibri"/>
                  </a:rPr>
                  <a:t>创建新任务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2381250"/>
              <a:ext cx="6015990" cy="245269"/>
              <a:chOff x="1047750" y="2381250"/>
              <a:chExt cx="6015990" cy="245269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047750" y="2381250"/>
                <a:ext cx="476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71022" y="2444591"/>
                <a:ext cx="2297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0B981"/>
                    </a:solidFill>
                    <a:latin typeface="Consolas"/>
                    <a:ea typeface="Microsoft YaHei"/>
                    <a:cs typeface="Consolas"/>
                  </a:rPr>
                  <a:t>GET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702118" y="2428399"/>
                <a:ext cx="11283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Consolas"/>
                    <a:ea typeface="Microsoft YaHei"/>
                    <a:cs typeface="Consolas"/>
                  </a:rPr>
                  <a:t>/api/tasks/[id]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989320" y="2436495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Calibri"/>
                    <a:ea typeface="Microsoft YaHei"/>
                    <a:cs typeface="Calibri"/>
                  </a:rPr>
                  <a:t>获取单个任务快照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47750" y="2762250"/>
              <a:ext cx="5877973" cy="245269"/>
              <a:chOff x="1047750" y="2762250"/>
              <a:chExt cx="5877973" cy="245269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47750" y="2762250"/>
                <a:ext cx="476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71022" y="2825591"/>
                <a:ext cx="2297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0B981"/>
                    </a:solidFill>
                    <a:latin typeface="Consolas"/>
                    <a:ea typeface="Microsoft YaHei"/>
                    <a:cs typeface="Consolas"/>
                  </a:rPr>
                  <a:t>GET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702118" y="2809399"/>
                <a:ext cx="17050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Consolas"/>
                    <a:ea typeface="Microsoft YaHei"/>
                    <a:cs typeface="Consolas"/>
                  </a:rPr>
                  <a:t>/api/tasks/[id]/stream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989320" y="2817495"/>
                <a:ext cx="9364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Calibri"/>
                    <a:ea typeface="Microsoft YaHei"/>
                    <a:cs typeface="Calibri"/>
                  </a:rPr>
                  <a:t>SSE 实时推送流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47750" y="3143250"/>
              <a:ext cx="5825395" cy="245269"/>
              <a:chOff x="1047750" y="3143250"/>
              <a:chExt cx="5825395" cy="245269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047750" y="3143250"/>
                <a:ext cx="476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FBBF2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123579" y="3206591"/>
                <a:ext cx="32459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BBF24"/>
                    </a:solidFill>
                    <a:latin typeface="Consolas"/>
                    <a:ea typeface="Microsoft YaHei"/>
                    <a:cs typeface="Consolas"/>
                  </a:rPr>
                  <a:t>POST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702118" y="3190399"/>
                <a:ext cx="17549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Consolas"/>
                    <a:ea typeface="Microsoft YaHei"/>
                    <a:cs typeface="Consolas"/>
                  </a:rPr>
                  <a:t>/api/tasks/[id]/approve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89320" y="3198495"/>
                <a:ext cx="8838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Calibri"/>
                    <a:ea typeface="Microsoft YaHei"/>
                    <a:cs typeface="Calibri"/>
                  </a:rPr>
                  <a:t>批准命令/权限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047750" y="3524250"/>
              <a:ext cx="5490210" cy="245269"/>
              <a:chOff x="1047750" y="3524250"/>
              <a:chExt cx="5490210" cy="245269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1047750" y="3524250"/>
                <a:ext cx="476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FBBF24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123579" y="3587591"/>
                <a:ext cx="32459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BBF24"/>
                    </a:solidFill>
                    <a:latin typeface="Consolas"/>
                    <a:ea typeface="Microsoft YaHei"/>
                    <a:cs typeface="Consolas"/>
                  </a:rPr>
                  <a:t>POST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02118" y="3571399"/>
                <a:ext cx="15199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Consolas"/>
                    <a:ea typeface="Microsoft YaHei"/>
                    <a:cs typeface="Consolas"/>
                  </a:rPr>
                  <a:t>/api/tasks/[id]/stop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989320" y="35794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Calibri"/>
                    <a:ea typeface="Microsoft YaHei"/>
                    <a:cs typeface="Calibri"/>
                  </a:rPr>
                  <a:t>停止任务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047750" y="3905250"/>
              <a:ext cx="5490210" cy="245269"/>
              <a:chOff x="1047750" y="3905250"/>
              <a:chExt cx="5490210" cy="245269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1047750" y="3905250"/>
                <a:ext cx="476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FBBF24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123579" y="3968591"/>
                <a:ext cx="32459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BBF24"/>
                    </a:solidFill>
                    <a:latin typeface="Consolas"/>
                    <a:ea typeface="Microsoft YaHei"/>
                    <a:cs typeface="Consolas"/>
                  </a:rPr>
                  <a:t>POST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702118" y="3952399"/>
                <a:ext cx="1598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Consolas"/>
                    <a:ea typeface="Microsoft YaHei"/>
                    <a:cs typeface="Consolas"/>
                  </a:rPr>
                  <a:t>/api/tasks/[id]/retry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989320" y="39604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Calibri"/>
                    <a:ea typeface="Microsoft YaHei"/>
                    <a:cs typeface="Calibri"/>
                  </a:rPr>
                  <a:t>重试任务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047750" y="4286250"/>
              <a:ext cx="5490210" cy="245269"/>
              <a:chOff x="1047750" y="4286250"/>
              <a:chExt cx="5490210" cy="245269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1047750" y="4286250"/>
                <a:ext cx="476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FBBF2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123579" y="4349591"/>
                <a:ext cx="32459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BBF24"/>
                    </a:solidFill>
                    <a:latin typeface="Consolas"/>
                    <a:ea typeface="Microsoft YaHei"/>
                    <a:cs typeface="Consolas"/>
                  </a:rPr>
                  <a:t>POST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702118" y="4333399"/>
                <a:ext cx="1640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Consolas"/>
                    <a:ea typeface="Microsoft YaHei"/>
                    <a:cs typeface="Consolas"/>
                  </a:rPr>
                  <a:t>/api/tasks/[id]/delete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989320" y="43414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Calibri"/>
                    <a:ea typeface="Microsoft YaHei"/>
                    <a:cs typeface="Calibri"/>
                  </a:rPr>
                  <a:t>删除任务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047750" y="4667250"/>
              <a:ext cx="5753100" cy="245269"/>
              <a:chOff x="1047750" y="4667250"/>
              <a:chExt cx="5753100" cy="245269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1047750" y="4667250"/>
                <a:ext cx="476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171022" y="4730591"/>
                <a:ext cx="2297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0B981"/>
                    </a:solidFill>
                    <a:latin typeface="Consolas"/>
                    <a:ea typeface="Microsoft YaHei"/>
                    <a:cs typeface="Consolas"/>
                  </a:rPr>
                  <a:t>GET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702118" y="4714399"/>
                <a:ext cx="22319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Consolas"/>
                    <a:ea typeface="Microsoft YaHei"/>
                    <a:cs typeface="Consolas"/>
                  </a:rPr>
                  <a:t>/api/tasks/[id]/artifact/[aid]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989320" y="47224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Calibri"/>
                    <a:ea typeface="Microsoft YaHei"/>
                    <a:cs typeface="Calibri"/>
                  </a:rPr>
                  <a:t>下载产物文件</a:t>
                </a:r>
              </a:p>
            </p:txBody>
          </p:sp>
        </p:grpSp>
        <p:sp>
          <p:nvSpPr>
            <p:cNvPr id="55" name="Rectangle 55"/>
            <p:cNvSpPr/>
            <p:nvPr/>
          </p:nvSpPr>
          <p:spPr>
            <a:xfrm>
              <a:off x="1047750" y="5334000"/>
              <a:ext cx="10096500" cy="762000"/>
            </a:xfrm>
            <a:prstGeom prst="roundRect">
              <a:avLst>
                <a:gd name="adj" fmla="val 12500"/>
              </a:avLst>
            </a:prstGeom>
            <a:solidFill>
              <a:srgbClr val="3DD9C5"/>
            </a:solidFill>
            <a:ln w="9525">
              <a:solidFill>
                <a:srgbClr val="3DD9C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224915" y="5506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三层架构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225868" y="5800249"/>
              <a:ext cx="59200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浏览器层（Next.js SSR）→ API 层（11 端点 + SSE）→ 数据层（文件快照 + Runner 进程编排）</a:t>
              </a:r>
            </a:p>
          </p:txBody>
        </p:sp>
      </p:grpSp>
      <p:sp>
        <p:nvSpPr>
          <p:cNvPr id="59" name="Rectangle 5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0545961" y="6626066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DD9C5">
                  <a:alpha val="5000"/>
                </a:srgbClr>
              </a:gs>
              <a:gs pos="100000">
                <a:srgbClr val="3DD9C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52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DD9C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2000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DF5"/>
                </a:solidFill>
                <a:latin typeface="Arial"/>
                <a:ea typeface="Microsoft YaHei"/>
                <a:cs typeface="Arial"/>
              </a:rPr>
              <a:t>命令审批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417195"/>
            <a:ext cx="11664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Command Approval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62000" y="1143000"/>
            <a:ext cx="10477500" cy="952500"/>
            <a:chOff x="762000" y="1143000"/>
            <a:chExt cx="10477500" cy="952500"/>
          </a:xfrm>
        </p:grpSpPr>
        <p:sp>
          <p:nvSpPr>
            <p:cNvPr id="8" name="Rectangle 8"/>
            <p:cNvSpPr/>
            <p:nvPr/>
          </p:nvSpPr>
          <p:spPr>
            <a:xfrm>
              <a:off x="762000" y="1143000"/>
              <a:ext cx="3048000" cy="952500"/>
            </a:xfrm>
            <a:prstGeom prst="roundRect">
              <a:avLst>
                <a:gd name="adj" fmla="val 12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54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27892" y="1346835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🤖 Agent 执行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83068" y="16649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遇到需要权限的命令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0319" y="1855470"/>
              <a:ext cx="17513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状态设为 approval_required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810000" y="16192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333875" y="1571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0"/>
                  </a:lnTo>
                  <a:lnTo>
                    <a:pt x="47625" y="952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76750" y="1143000"/>
              <a:ext cx="3048000" cy="952500"/>
            </a:xfrm>
            <a:prstGeom prst="roundRect">
              <a:avLst>
                <a:gd name="adj" fmla="val 12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5400000" scaled="1"/>
            </a:gradFill>
            <a:ln w="9525">
              <a:solidFill>
                <a:srgbClr val="FFFF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43855" y="1346835"/>
              <a:ext cx="9137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📡 SSE 推送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97817" y="16649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版本号变化触发推送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97817" y="18554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浏览器出现批准按钮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524750" y="16192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8048625" y="1571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0"/>
                  </a:lnTo>
                  <a:lnTo>
                    <a:pt x="47625" y="952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91500" y="1143000"/>
              <a:ext cx="3048000" cy="952500"/>
            </a:xfrm>
            <a:prstGeom prst="roundRect">
              <a:avLst>
                <a:gd name="adj" fmla="val 12000"/>
              </a:avLst>
            </a:prstGeom>
            <a:gradFill>
              <a:gsLst>
                <a:gs pos="0">
                  <a:srgbClr val="131821"/>
                </a:gs>
                <a:gs pos="100000">
                  <a:srgbClr val="0D1117"/>
                </a:gs>
              </a:gsLst>
              <a:lin ang="5400000" scaled="1"/>
            </a:gradFill>
            <a:ln w="14288">
              <a:solidFill>
                <a:srgbClr val="3DD9C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54004" y="1346835"/>
              <a:ext cx="922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✅ 人工批准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37440" y="1664970"/>
              <a:ext cx="9561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点击"批准"按钮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40726" y="1855470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Agent 继续执行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2667000"/>
            <a:ext cx="5143500" cy="1524000"/>
            <a:chOff x="762000" y="2667000"/>
            <a:chExt cx="5143500" cy="1524000"/>
          </a:xfrm>
        </p:grpSpPr>
        <p:sp>
          <p:nvSpPr>
            <p:cNvPr id="25" name="Rectangle 25"/>
            <p:cNvSpPr/>
            <p:nvPr/>
          </p:nvSpPr>
          <p:spPr>
            <a:xfrm>
              <a:off x="762000" y="2667000"/>
              <a:ext cx="5143500" cy="1524000"/>
            </a:xfrm>
            <a:prstGeom prst="roundRect">
              <a:avLst>
                <a:gd name="adj" fmla="val 875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2000" y="2667000"/>
              <a:ext cx="5143500" cy="47625"/>
            </a:xfrm>
            <a:prstGeom prst="roundRect">
              <a:avLst>
                <a:gd name="adj" fmla="val 50000"/>
              </a:avLst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2510" y="2918460"/>
              <a:ext cx="2634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blocked vs approval_required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5368" y="3276124"/>
              <a:ext cx="1918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blocked → 需要你给方向/意见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5368" y="356187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approval_required → 已生成具体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5368" y="375237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命令，等你批准才执行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2667000"/>
            <a:ext cx="5143500" cy="1524000"/>
            <a:chOff x="6286500" y="2667000"/>
            <a:chExt cx="5143500" cy="1524000"/>
          </a:xfrm>
        </p:grpSpPr>
        <p:sp>
          <p:nvSpPr>
            <p:cNvPr id="32" name="Rectangle 32"/>
            <p:cNvSpPr/>
            <p:nvPr/>
          </p:nvSpPr>
          <p:spPr>
            <a:xfrm>
              <a:off x="6286500" y="2667000"/>
              <a:ext cx="5143500" cy="1524000"/>
            </a:xfrm>
            <a:prstGeom prst="roundRect">
              <a:avLst>
                <a:gd name="adj" fmla="val 875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2667000"/>
              <a:ext cx="5143500" cy="47625"/>
            </a:xfrm>
            <a:prstGeom prst="roundRect">
              <a:avLst>
                <a:gd name="adj" fmla="val 50000"/>
              </a:avLst>
            </a:prstGeom>
            <a:solidFill>
              <a:srgbClr val="7C8C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7010" y="2918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9868" y="3276124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需要安全批准的生产操作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9868" y="3561874"/>
              <a:ext cx="1334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git push 到远程仓库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9868" y="384762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敏感文件修改权限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545961" y="6626066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DD9C5">
                  <a:alpha val="5000"/>
                </a:srgbClr>
              </a:gs>
              <a:gs pos="100000">
                <a:srgbClr val="3DD9C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52450"/>
            <a:ext cx="381000" cy="28575"/>
          </a:xfrm>
          <a:prstGeom prst="roundRect">
            <a:avLst>
              <a:gd name="adj" fmla="val 50000"/>
            </a:avLst>
          </a:prstGeom>
          <a:solidFill>
            <a:srgbClr val="3DD9C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2000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DF5"/>
                </a:solidFill>
                <a:latin typeface="Arial"/>
                <a:ea typeface="Microsoft YaHei"/>
                <a:cs typeface="Arial"/>
              </a:rPr>
              <a:t>快速部署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70" y="417195"/>
            <a:ext cx="8181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Quick Deploy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1047750"/>
            <a:ext cx="7620000" cy="3048000"/>
            <a:chOff x="762000" y="1047750"/>
            <a:chExt cx="7620000" cy="3048000"/>
          </a:xfrm>
        </p:grpSpPr>
        <p:sp>
          <p:nvSpPr>
            <p:cNvPr id="8" name="Rectangle 8"/>
            <p:cNvSpPr/>
            <p:nvPr/>
          </p:nvSpPr>
          <p:spPr>
            <a:xfrm>
              <a:off x="762000" y="1047750"/>
              <a:ext cx="7620000" cy="3048000"/>
            </a:xfrm>
            <a:prstGeom prst="roundRect">
              <a:avLst>
                <a:gd name="adj" fmla="val 4375"/>
              </a:avLst>
            </a:prstGeom>
            <a:solidFill>
              <a:srgbClr val="090C12"/>
            </a:solidFill>
            <a:ln w="9525">
              <a:solidFill>
                <a:srgbClr val="FFFFF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047750"/>
              <a:ext cx="7620000" cy="381000"/>
            </a:xfrm>
            <a:prstGeom prst="roundRect">
              <a:avLst>
                <a:gd name="adj" fmla="val 35000"/>
              </a:avLst>
            </a:prstGeom>
            <a:solidFill>
              <a:srgbClr val="13182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52500" y="1190625"/>
              <a:ext cx="95250" cy="9525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43000" y="1190625"/>
              <a:ext cx="95250" cy="9525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333500" y="1190625"/>
              <a:ext cx="95250" cy="952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67700" y="1190149"/>
              <a:ext cx="6086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Terminal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3462" y="168830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Consolas"/>
                  <a:ea typeface="Microsoft YaHei"/>
                  <a:cs typeface="Consolas"/>
                </a:rPr>
                <a:t># 1. 克隆仓库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462" y="1974056"/>
              <a:ext cx="46455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DD9C5"/>
                  </a:solidFill>
                  <a:latin typeface="Consolas"/>
                  <a:ea typeface="Microsoft YaHei"/>
                  <a:cs typeface="Consolas"/>
                </a:rPr>
                <a:t>git clone https://github.com/zaiyemeiyou404/task-Pluse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2355056"/>
              <a:ext cx="1055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Consolas"/>
                  <a:ea typeface="Microsoft YaHei"/>
                  <a:cs typeface="Consolas"/>
                </a:rPr>
                <a:t># 2. 安装依赖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26408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DD9C5"/>
                  </a:solidFill>
                  <a:latin typeface="Consolas"/>
                  <a:ea typeface="Microsoft YaHei"/>
                  <a:cs typeface="Consolas"/>
                </a:rPr>
                <a:t>npm install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3021806"/>
              <a:ext cx="1548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Consolas"/>
                  <a:ea typeface="Microsoft YaHei"/>
                  <a:cs typeface="Consolas"/>
                </a:rPr>
                <a:t># 3. 生产构建并启动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3462" y="3307556"/>
              <a:ext cx="1071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DD9C5"/>
                  </a:solidFill>
                  <a:latin typeface="Consolas"/>
                  <a:ea typeface="Microsoft YaHei"/>
                  <a:cs typeface="Consolas"/>
                </a:rPr>
                <a:t>npm run build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3462" y="359330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DD9C5"/>
                  </a:solidFill>
                  <a:latin typeface="Consolas"/>
                  <a:ea typeface="Microsoft YaHei"/>
                  <a:cs typeface="Consolas"/>
                </a:rPr>
                <a:t>npm run start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763000" y="1047750"/>
            <a:ext cx="2857500" cy="952500"/>
            <a:chOff x="8763000" y="1047750"/>
            <a:chExt cx="2857500" cy="952500"/>
          </a:xfrm>
        </p:grpSpPr>
        <p:sp>
          <p:nvSpPr>
            <p:cNvPr id="22" name="Rectangle 22"/>
            <p:cNvSpPr/>
            <p:nvPr/>
          </p:nvSpPr>
          <p:spPr>
            <a:xfrm>
              <a:off x="8763000" y="1047750"/>
              <a:ext cx="2857500" cy="952500"/>
            </a:xfrm>
            <a:prstGeom prst="roundRect">
              <a:avLst>
                <a:gd name="adj" fmla="val 12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40165" y="1220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环境要求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41118" y="1466374"/>
              <a:ext cx="7794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Node.js 18+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41118" y="1685449"/>
              <a:ext cx="288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npm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763000" y="2286000"/>
            <a:ext cx="2857500" cy="952500"/>
            <a:chOff x="8763000" y="2286000"/>
            <a:chExt cx="2857500" cy="952500"/>
          </a:xfrm>
        </p:grpSpPr>
        <p:sp>
          <p:nvSpPr>
            <p:cNvPr id="27" name="Rectangle 27"/>
            <p:cNvSpPr/>
            <p:nvPr/>
          </p:nvSpPr>
          <p:spPr>
            <a:xfrm>
              <a:off x="8763000" y="2286000"/>
              <a:ext cx="2857500" cy="952500"/>
            </a:xfrm>
            <a:prstGeom prst="roundRect">
              <a:avLst>
                <a:gd name="adj" fmla="val 12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40165" y="2458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DF5"/>
                  </a:solidFill>
                  <a:latin typeface="Arial"/>
                  <a:ea typeface="Microsoft YaHei"/>
                  <a:cs typeface="Arial"/>
                </a:rPr>
                <a:t>默认地址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41118" y="2704624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DD9C5"/>
                  </a:solidFill>
                  <a:latin typeface="Consolas"/>
                  <a:ea typeface="Microsoft YaHei"/>
                  <a:cs typeface="Consolas"/>
                </a:rPr>
                <a:t>http://localhost:3000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2070" y="29508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即开即用，无需额外配置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576084" y="6626066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5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DD9C5">
                  <a:alpha val="8000"/>
                </a:srgbClr>
              </a:gs>
              <a:gs pos="100000">
                <a:srgbClr val="3DD9C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C8CFF">
                  <a:alpha val="6000"/>
                </a:srgbClr>
              </a:gs>
              <a:gs pos="100000">
                <a:srgbClr val="7C8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DD9C5"/>
              </a:gs>
              <a:gs pos="100000">
                <a:srgbClr val="7C8CFF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885950" y="1885950"/>
            <a:ext cx="8420100" cy="2895600"/>
            <a:chOff x="1885950" y="1885950"/>
            <a:chExt cx="8420100" cy="2895600"/>
          </a:xfrm>
        </p:grpSpPr>
        <p:sp>
          <p:nvSpPr>
            <p:cNvPr id="6" name="Ellipse 6"/>
            <p:cNvSpPr/>
            <p:nvPr/>
          </p:nvSpPr>
          <p:spPr>
            <a:xfrm>
              <a:off x="1885950" y="18859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647950" y="18859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505950" y="4743450"/>
              <a:ext cx="38100" cy="38100"/>
            </a:xfrm>
            <a:prstGeom prst="ellipse">
              <a:avLst/>
            </a:prstGeom>
            <a:solidFill>
              <a:srgbClr val="7C8CF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267950" y="4743450"/>
              <a:ext cx="38100" cy="38100"/>
            </a:xfrm>
            <a:prstGeom prst="ellipse">
              <a:avLst/>
            </a:prstGeom>
            <a:solidFill>
              <a:srgbClr val="7C8C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85950" y="4743450"/>
              <a:ext cx="38100" cy="38100"/>
            </a:xfrm>
            <a:prstGeom prst="ellipse">
              <a:avLst/>
            </a:prstGeom>
            <a:solidFill>
              <a:srgbClr val="3DD9C5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267950" y="1885950"/>
              <a:ext cx="38100" cy="38100"/>
            </a:xfrm>
            <a:prstGeom prst="ellipse">
              <a:avLst/>
            </a:prstGeom>
            <a:solidFill>
              <a:srgbClr val="7C8CFF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601146" y="2404110"/>
            <a:ext cx="298970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dirty="0">
                <a:solidFill>
                  <a:srgbClr val="E8EDF5"/>
                </a:solidFill>
                <a:latin typeface="Arial Black"/>
                <a:ea typeface="Microsoft YaHei"/>
                <a:cs typeface="Arial Black"/>
              </a:rPr>
              <a:t>Thank You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0" y="3095625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DD9C5"/>
              </a:gs>
              <a:gs pos="100000">
                <a:srgbClr val="7C8CFF"/>
              </a:gs>
            </a:gsLst>
            <a:lin ang="0" scaled="1"/>
          </a:gra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79841" y="3536632"/>
            <a:ext cx="6323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60114" y="4156710"/>
            <a:ext cx="42717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开源地址：github.com/zaiyemeiyou404/task-Pluse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667250" y="4762500"/>
            <a:ext cx="2857500" cy="571500"/>
            <a:chOff x="4667250" y="4762500"/>
            <a:chExt cx="2857500" cy="571500"/>
          </a:xfrm>
        </p:grpSpPr>
        <p:sp>
          <p:nvSpPr>
            <p:cNvPr id="17" name="Rectangle 17"/>
            <p:cNvSpPr/>
            <p:nvPr/>
          </p:nvSpPr>
          <p:spPr>
            <a:xfrm>
              <a:off x="4667250" y="4762500"/>
              <a:ext cx="2857500" cy="571500"/>
            </a:xfrm>
            <a:prstGeom prst="roundRect">
              <a:avLst>
                <a:gd name="adj" fmla="val 50000"/>
              </a:avLst>
            </a:prstGeom>
            <a:solidFill>
              <a:srgbClr val="131821"/>
            </a:solidFill>
            <a:ln w="9525">
              <a:solidFill>
                <a:srgbClr val="FFFFF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84590" y="4992052"/>
              <a:ext cx="1222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DD9C5"/>
                  </a:solidFill>
                  <a:latin typeface="Arial"/>
                  <a:ea typeface="Microsoft YaHei"/>
                  <a:cs typeface="Arial"/>
                </a:rPr>
                <a:t>⭐ Star on GitHub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3182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606207" y="6626066"/>
            <a:ext cx="8342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alibri"/>
                <a:ea typeface="Microsoft YaHei"/>
                <a:cs typeface="Calibri"/>
              </a:rPr>
              <a:t>Task Pulse · 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